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BF9000"/>
                </a:solidFill>
                <a:latin typeface="Calibri"/>
              </a:rPr>
              <a:t>PRIVATE EQUITY — VALUE CREATION &amp; EXIT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Exit Strategy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D6E0F0"/>
                </a:solidFill>
                <a:latin typeface="Calibri"/>
              </a:rPr>
              <a:t>Hexaware Technologies Ltd.  |  Siemens Ltd. (India)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IC Investment Memo  •  Sell-Side Exit Advisory  •  M&amp;A Strategic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9000"/>
                </a:solidFill>
                <a:latin typeface="Calibri"/>
              </a:rPr>
              <a:t>Strictly Private &amp; Confidential   •   18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Methodology, Sources &amp; Key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338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Two distinct assets: (1) Hexaware — a LIVE PE case (Carlyle ~74% post-IPO, acquired 2021, partial IPO Feb-2025); (2) Siemens India — a STRATEGIC subsidiary (Siemens AG ~69%), analysed as a hypothetical PE / take-private study.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Hexaware reports on a calendar year (Dec-end); Siemens on a fiscal year (Oct–Sep). Siemens FY20–24 figures include the now-demerged Energy business and are not directly comparable to continuing operations.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FX assumption: INR/USD approx. 85 for FY25–26 conversions.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Sources: company IR &amp; press releases, NSE/BSE filings, Carlyle disclosures, NASSCOM, Kroll, Mordor Intelligence, Jefferies/Nuvama, WSJ, Stockopedia (all cited on the data slides and in the accompanying report/Excel model).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All valuation outputs (EV, equity, MOIC, IRR) are analytical estimates built on stated assumptions and computed live in the companion Excel model. Gross of fees/carry. Not investment advice.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1274552" cy="13716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10972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Companion deliverables:  (1) this deck;  (2) a 14–15 page written report (Markdown);  (3) a formula-linked Excel model 'PE_Exit_Model_Hexaware_Siemens.xlsx' where Assumptions feed Valuation &amp; Returns sheets and a live IC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Report Structure — 10 Sections per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1.  Investment Overview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2.  Business &amp; Industry Analysis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3.  Financial Performance (5-yr)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4.  Value Creation Opportunities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5.  Exit Readiness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6.  Buyer Universe Analysis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7.  Exit Strategy Analysis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8.  Exit Valuation (Bear/Base/Bull)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9.  Exit Timing Analysis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•  10. Final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Plus: Porter's Five Forces &amp; SWOT (Sec 2), comparative scorecard, and consolidated IC recommendation.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Two Assets, Two Very Different PE Verdicts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6540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61104"/>
                <a:gridCol w="4261104"/>
              </a:tblGrid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Hexaware Technologies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Siemens Ltd. (India)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IT / digital services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Industrial tech / electrification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PE relevance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LIVE case — Carlyle ~74%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Strategic parent — Siemens AG ~69%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Control available to PE?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YES (sponsor holds it)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Exit readiness (/10)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9.0 (but no sponsor control)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Valuation backdrop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Near-trough (AI de-rating)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Premium (richly valued)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Base equity value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~Rs 46,000 cr (~US$5.4bn)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~Rs 166,500 cr (~US$19.6bn)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Base MOIC / IRR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~2.0x / ~11%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~1.28x / ~6.4% (hypothetical)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IC VERDICT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HOLD &amp; STAGGER-EXIT by ~CY2028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PASS on control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Deploy effort against Hexaware-type sponsor-controlled, re-rating-optional assets; study Siemens for the value-unlock (demerger) template, but do not chase a control position you cannot obtain.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011680" cy="914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BF9000"/>
                </a:solidFill>
                <a:latin typeface="Calibri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Hexaware Technologies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6E0F0"/>
                </a:solidFill>
                <a:latin typeface="Calibri"/>
              </a:rPr>
              <a:t>NSE: HEXT  •  Sponsor: The Carlyle Group (via CA Magnum Holdings)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HEXAWARE — 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Investment Overview &amp; the PE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Global AI-first IT &amp; BPS provider: 31,000+ staff, ~54 offices, 28 countries.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Proprietary platforms: RapidX (digital), Tensai (AI/automation), Amaze (cloud).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Verticals: BFSI, Healthcare/Insurance, Manufacturing, Hi-Tech, Travel/Logistics.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Geography: North America ~70%+; Europe &amp; APAC the expansion runway.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Strengths: scaled growth, AI brand, blue-chip logos, net-cash, proven mgmt.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Risks: AI cannibalisation of headcount model, growth deceleration, sponsor overhang, FX.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PE OWNERSHIP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000000"/>
                </a:solidFill>
                <a:latin typeface="Calibri"/>
              </a:rPr>
              <a:t>•  2013: Baring PE Asia acquires ~70.8% control.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0000"/>
                </a:solidFill>
                <a:latin typeface="Calibri"/>
              </a:rPr>
              <a:t>•  2020: Delisted (BPEA take-private).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0000"/>
                </a:solidFill>
                <a:latin typeface="Calibri"/>
              </a:rPr>
              <a:t>•  Oct-2021: Carlyle buys at ~US$3bn EV (~Rs 23,200 cr).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0000"/>
                </a:solidFill>
                <a:latin typeface="Calibri"/>
              </a:rPr>
              <a:t>•  Feb-2025: Rs 8,750 cr (~US$1bn) IPO, 100% OFS; valued ~Rs 43,000 cr (~US$5.0–5.4bn).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0000"/>
                </a:solidFill>
                <a:latin typeface="Calibri"/>
              </a:rPr>
              <a:t>•  Largest tech-services IPO globally in over a decade; largest sponsor-owned IPO in India.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0000"/>
                </a:solidFill>
                <a:latin typeface="Calibri"/>
              </a:rPr>
              <a:t>•  Carlyle stake: 95% -&gt; ~74.1% post-IPO — bulk of value still un-monetised.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HEXAWARE — 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Industry, Porter's Five Forces &amp; SWOT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595959"/>
                </a:solidFill>
                <a:latin typeface="Calibri"/>
              </a:rPr>
              <a:t>India tech sector FY25 ~US$282.6bn (+5.1%), &gt;US$300bn FY26 (NASSCOM); India IT services US$37bn (2025) -&gt; US$57bn (2030), ~9% CAGR (Mordor).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4592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Porter's Force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Intensity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Competitive rivalry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New entrants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Low–Medium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Supplier (talent) power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Medium–High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Buyer power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Substitutes (GenAI)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Med–High &amp; rising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16459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SWOT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9659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Weaknesses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Scaled growth, AI brand, platforms, net-cash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US/BFSI concentration, mid-tier margins, overhang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Opportunities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Threats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GenAI wave, vendor consolidation, Europe, M&amp;A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AI cannibalisation, de-rating, macro, talent/FX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120640"/>
            <a:ext cx="5577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Net: structurally competitive industry with a RISING AI-substitution threat — the central swing factor for exit multiple and timing.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HEXAWARE —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5-Year Financial Performance (CY, Dec-end)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6540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435608"/>
                <a:gridCol w="1435608"/>
                <a:gridCol w="1435608"/>
                <a:gridCol w="1435608"/>
                <a:gridCol w="1435608"/>
                <a:gridCol w="1435608"/>
              </a:tblGrid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CY21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CY22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CY23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CY24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CY25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CAGR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Revenue (Rs cr)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7,178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9,200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10,380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11,974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13,430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~17%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Revenue (US$ m)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970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1,156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1,257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1,429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1,537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~12%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Rev growth % (USD)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~19%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~9%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+13.7%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+7.6%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EBITDA margin 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~17%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~16.5%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~16.5%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~17%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~16.7%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EBITDA (Rs cr, est.)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~1,220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~1,500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~1,700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~2,050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~2,250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PAT (Rs cr, est.)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820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998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1,150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1,300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~15%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891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Revenue nearly DOUBLED CY21-&gt;CY25 — validates the PE value-creation thesis.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But growth DECELERATED to +7.6% (USD) in CY25 — a yellow flag for the exit multiple.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EBITDA ~16–17% (below tier-1's ~24–26%) = a margin-expansion lever; ROE ~22–25%, net-cash B/S = an LBO leverage lever.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Sources: Stockopedia (INR revenue); Hexaware/PR Newswire (USD revenue); EBITDA &amp; PAT analyst estimates.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HEXAWARE — 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Value Creation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120640"/>
                <a:gridCol w="35661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Margin improvement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Pyramid/utilisation, automation, offshore mix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+150–300 bps EBITDA (toward ~19–20%)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Revenue expansion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Large-deal TCV, GenAI services, Europe push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+200–400 bps revenue CAGR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Digital / AI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Monetise Tensai/RapidX/Amaze IP; outcome pricing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Multiple re-rating ('AI-native')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Strategic M&amp;A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Bolt-ons in domain / AI / data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Inorganic growth + capability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Capital structure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Introduce leverage in a secondary LBO recap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Equity-return amplification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572000"/>
            <a:ext cx="11274552" cy="13716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10972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Illustrative: lifting EBITDA margin from ~17% to ~20% on ~Rs 15,000 cr revenue adds ~Rs 450 cr EBITDA; at 16–18x EV/EBITDA that is ~Rs 7,000–8,000 cr of incremental enterprise value — before any growth re-acceleration or re-rating.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HEXAWARE — 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Exit Readiness Assessment — 8.4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6766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8288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Score /10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Management quality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Corporate governance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Market positioning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Investor appeal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Strategic attractiveness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Financial maturity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Public-market readiness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98079" y="1371600"/>
            <a:ext cx="420624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554480"/>
            <a:ext cx="384048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Maximally exit-ready: the asset is ALREADY public, governed and liquid.
The binding constraint is the market MULTIPLE, not readiness.
=&gt; The live questions are exit ROUTE and TIMING, not whether the asset can be exited.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HEXAWARE — 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Buyer Universe — Ranked by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Strategic buyers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5448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Buyer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Cognizant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Capgemini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Accenture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Low-Medium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IBM / DXC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Low-Medium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Financial buyers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55448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Buyer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Blackstone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EQT (ex-BPEA)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KKR / Bain / Advent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Brookfield / SWFs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High (blocks)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023360"/>
            <a:ext cx="11274552" cy="18288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3864"/>
                </a:solidFill>
                <a:latin typeface="Calibri"/>
              </a:rPr>
              <a:t>•  Ranked probability: (1) capital-markets block sale to FIIs/DIIs/SWFs; (2) sponsor-to-sponsor secondary; (3) strategic sale to Cognizant/Capgemini; (4) IBM/Accenture tuck-in; (5) DXC/smaller strategics.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864"/>
                </a:solidFill>
                <a:latin typeface="Calibri"/>
              </a:rPr>
              <a:t>•  A full strategic acquisition of a ~US$5bn LISTED company needs an open-offer/control premium and is operationally complex — more likely a longer-horizon scenario.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HEXAWARE — 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Exit Strategy Analysis — Routes Ranked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645920"/>
                <a:gridCol w="2651760"/>
                <a:gridCol w="1673352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Complexity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Valuation impact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Feasibility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P(success)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1. Staggered block sales (listed mkt)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Low-Med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~85%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2. Secondary / sponsor-to-sponsor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Market + modest premium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~55%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3. Strategic sale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+ premium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~25%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4. Partial exit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~85%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5. Merger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~10%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572000"/>
            <a:ext cx="11274552" cy="128016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10972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Recommended: STAGGERED secondary block sales via the listed market (primary), with a sponsor-to-sponsor full block as the opportunistic alternative and strategic sale retained as premium optionality.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HEXAWARE — 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Exit Valuation — Bear / Base / Bull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745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737360"/>
                <a:gridCol w="1828800"/>
                <a:gridCol w="1828800"/>
                <a:gridCol w="26791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Exit EV/EBITDA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EV (Rs cr)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Equity (Rs cr)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Equity (US$ bn)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Bear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13x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~36,400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~37,900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~4.5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Prolonged AI de-rating, sub-7% growth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16x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~44,800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~46,300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~5.4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Growth recovery ~9–10%, margin 18%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Bull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20x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~56,000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~57,500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~6.8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AI-services re-rating, double-digit growth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Cross-checks: EV/Revenue ~3.0x (Base) and a DCF (WACC ~11.5%, g 4.5%) both support the ~Rs 44,000–50,000 cr Base equity 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Sponsor returns (Carlyle) — true multi-flow IRR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526280"/>
          <a:ext cx="1127455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690872"/>
                <a:gridCol w="1463040"/>
                <a:gridCol w="1828800"/>
                <a:gridCol w="182880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Realisations (IPO OFS + residual)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Hold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MOIC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Gross IRR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Bear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Rs 8,750 cr + residual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~7 yrs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~1.7x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~8.6%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Rs 8,750 cr + ~Rs 34,300 cr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~7 yrs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~2.0x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~11.2%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Bull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Rs 8,750 cr + ~Rs 42,600 cr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~7 yrs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~2.3x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~14.2%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HEXAWARE — SECTIONS 9–10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Timing &amp; Final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Industry mid-down-cycle in 2026: near-trough multiples (~15–18x P/E) on AI fears.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Don't force a full exit into the trough — stagger on strength.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Catalyst: growth re-acceleration to double digits would unlock the Bull case.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Constructive capital markets + global rate easing support exit multiples into 2027–28.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Recommended hold: ~7 yrs (2021–2028); staggered monetisation CY2026–CY2028.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IC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1F3864"/>
                </a:solidFill>
                <a:latin typeface="Calibri"/>
              </a:rPr>
              <a:t>•  Verdict: HOLD &amp; STAGGER-EXIT by ~CY2028.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F3864"/>
                </a:solidFill>
                <a:latin typeface="Calibri"/>
              </a:rPr>
              <a:t>•  Route: staggered listed-market blocks; sponsor-to-sponsor as alternative.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F3864"/>
                </a:solidFill>
                <a:latin typeface="Calibri"/>
              </a:rPr>
              <a:t>•  Buyers: FIIs/DIIs/SWFs (blocks); Blackstone/EQT/KKR; Cognizant/Capgemini (strategic).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F3864"/>
                </a:solidFill>
                <a:latin typeface="Calibri"/>
              </a:rPr>
              <a:t>•  Base equity ~Rs 46,000 cr (~US$5.4bn).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F3864"/>
                </a:solidFill>
                <a:latin typeface="Calibri"/>
              </a:rPr>
              <a:t>•  Expected ~2.0x MOIC / ~11% IRR (Base).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F3864"/>
                </a:solidFill>
                <a:latin typeface="Calibri"/>
              </a:rPr>
              <a:t>•  Success factors: re-accelerate growth, expand margin to ~19–20%, manage overhang.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011680" cy="914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BF9000"/>
                </a:solidFill>
                <a:latin typeface="Calibri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Siemens Ltd. (India)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6E0F0"/>
                </a:solidFill>
                <a:latin typeface="Calibri"/>
              </a:rPr>
              <a:t>NSE: SIEMENS  •  Strategic parent: Siemens AG ~69%  •  framed as a HYPOTHETICAL PE study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SIEMENS — 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Investment Overview (with control caveat)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74552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CAVEAT: Siemens AG owns ~69%. A PE control transaction is effectively unavailable — analysis is a hypothetical PE / take-private study.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India's flagship industrial-tech &amp; electrification leader (since 1922).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Post Apr-2025 Energy demerger: continuing co. = Digital Industries, Smart Infrastructure, Mobility, Low-Voltage.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Order backlog ~Rs 43,004 cr (Q1FY26) = strong revenue visibility.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Net-cash; ~600% dividend (FY24); access to Siemens AG tech (Xcelerator, NVIDIA).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Thesis: India capex/electrification supercycle (power demand &gt;7% CAGR).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Risks: controlling-shareholder lock, capex cyclicality, commodity/FX margin swings, premium valuation.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Strategic relevance: a 'watch &amp; learn' asset — PE access only via minority/PIPE blocks or future carve-outs.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SIEMENS — 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Industry, Porter's Five Forces &amp; SWOT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595959"/>
                </a:solidFill>
                <a:latin typeface="Calibri"/>
              </a:rPr>
              <a:t>Tailwinds: electrification, grid modernisation, 'Make in India' capex, metro/rail, data-centre power. Power demand &gt;7% CAGR (Kroll).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4592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Porter's Force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Intensity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Competitive rivalry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New entrants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Supplier power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Buyer power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Substitutes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16459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SWOT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9659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Weaknesses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Market leadership, brand, backlog, net-cash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Cyclicality, commodity/FX, premium valuation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Opportunities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Threats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Grid/data-centre/rail capex, software annuities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Capex slowdown, de-rating, bidding pressure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120640"/>
            <a:ext cx="5577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Net: a structurally attractive, HIGH-BARRIER oligopoly — superior to IT on entrant/substitution risk, but cyclical and richly valued.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SIEMENS —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5-Year Financials (FY Oct–Sep)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FY20–FY24 include Energy (pre-demerger); not comparable to continuing-ops quarters below.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455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192"/>
                <a:gridCol w="1719072"/>
                <a:gridCol w="1719072"/>
                <a:gridCol w="1719072"/>
                <a:gridCol w="1719072"/>
                <a:gridCol w="1719072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Metric (Rs cr)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FY20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FY21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FY22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FY23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9,824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13,136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16,047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19,472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22,157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Revenue growth 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+33.7%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+22.2%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+21.3%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+13.8%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PAT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2,718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3832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Continuing operations (ex-Energy), recent quarters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749039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1645920"/>
                <a:gridCol w="182880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Revenue (Rs cr)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PAT (Rs cr)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Q4 FY25 (Sep-25)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5,171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+16%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485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Q1 FY26 (Dec-25)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3,831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+14%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269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Q2 FY26 (Mar-26)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n/d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+14.6%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355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Calibri"/>
              </a:rPr>
              <a:t>~23% pre-demerger revenue CAGR; continuing co. sustains mid-teens growth but VOLATILE PAT (commodities, FX, New Labour Codes). Sources: WSJ, Quartr, Siemens 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SIEMENS — 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Value Creation Opportunities (hypothetical lens)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745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Action / Impact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Revenue expansion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Convert Rs 43,000 cr backlog; grid/data-centre/rail wins -&gt; sustains mid-teens growth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Margin improvement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Commodity hedging, pricing discipline, software/services mix -&gt; +100–200 bps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Digital transformation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Scale Xcelerator / industrial-AI annuities -&gt; higher-multiple recurring revenue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Capital structure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(Hypothetical) leverage — BLOCKED by strategic control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023360"/>
            <a:ext cx="11274552" cy="164592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The most powerful value lever — the SOTP unlock — was ALREADY executed by the parent via the 2025 Energy demerger (Siemens Energy India listed Jun-2025 at ~Rs 1.01–1.06 lakh cr; Jefferies &gt;US$10bn). Limited residual PE 'alpha' remains.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SIEMENS — 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Exit Readiness — 9.0 / 10 (but no sponsor control)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6766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8288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Score /10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Management quality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Corporate governance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Market positioning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Investor appeal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Strategic attractiveness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Financial maturity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Public-market readiness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98079" y="1371600"/>
            <a:ext cx="420624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554480"/>
            <a:ext cx="384048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As a STANDALONE asset, Siemens India scores 9.0/10.
But the binding constraint is ACCESS / CONTROL, not readiness.
Siemens AG's ~69% stake means a PE-led exit is effectively unavailable.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SIEMENS — SECTIONS 6–7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Buyer Universe &amp; Exit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Strategic buyers (ABB, Schneider, Hitachi, Mitsubishi, Eaton): ALL low probability — parent won't sell + antitrust hurdles.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4592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2587752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Exit route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Feasibility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P(success)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Demerger-led SOTP value unlock (EXECUTED 2025)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Partial / staggered block sale (minority holders only)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~70%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Strategic / control sale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Very Low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~5%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Secondary buyout / sponsor-to-sponsor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Very Low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~5%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Merger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Very Low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  <a:latin typeface="Calibri"/>
                        </a:rPr>
                        <a:t>~5%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754880"/>
            <a:ext cx="11274552" cy="10972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64608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The actionable 'route' that worked was the 2025 demerger (SOTP). For a non-parent minority holder, staggered block sales on strength are the only realistic monetisation.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SIEMENS — 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Exit Valuation &amp; Hypothetical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595959"/>
                </a:solidFill>
                <a:latin typeface="Calibri"/>
              </a:rPr>
              <a:t>Current continuing-co. market cap ~Rs 1.27–1.33 lakh cr (~US$15bn) at a steep ~60–70x P/E. We model exit-year (GROWN) PAT over ~4 yrs.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00200"/>
          <a:ext cx="112745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1371600"/>
                <a:gridCol w="1920240"/>
                <a:gridCol w="1920240"/>
                <a:gridCol w="1463040"/>
                <a:gridCol w="149047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Exit PAT (Rs cr)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Exit P/E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Equity (Rs cr)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Equity (US$ bn)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MOIC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IRR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Bear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~3,000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32x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~96,000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~11.3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~0.74x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 -7%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~3,700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45x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~166,500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~19.6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~1.28x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~6.4%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Bull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~4,400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52x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~228,800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~26.9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~1.76x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~15.2%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749039"/>
            <a:ext cx="11274552" cy="20116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1097280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F3864"/>
                </a:solidFill>
                <a:latin typeface="Calibri"/>
              </a:rPr>
              <a:t>Key insight: the BEAR case (~Rs 96,000 cr) sits BELOW today's ~Rs 1.30 lakh cr market cap — a financial buyer entering at the current premium would LOSE money if multiples de-rate. Returns are modest-to-poor because the asset is already richly valued and the SOTP alpha has been captured. Hold assumed 4 yrs; entry at current mcap (Rs 130,000 cr). Figures computed live in the Excel model.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SIEMENS — SECTIONS 9–10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Timing &amp; Final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India in an electrification/capex up-cycle — supportive, but valuations ELEVATED.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Capital-goods mcap pulled back ~14% in late CY25 (Kroll) — de-rating risk.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Value-creation event (demerger) already realised in 2025.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Parent (Siemens AG): retain and compound — no exit recommendation.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•  Minority holder: monetise opportunistically on strength within 2–4 years.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IC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Verdict: DO NOT PURSUE A CONTROL INVESTMENT — PASS.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Structurally unavailable (Siemens AG ~69%) and already richly valued.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Base equity ~Rs 166,500 cr (~US$19.6bn); hypothetical ~1.28x / ~6.4%.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Downside real: Bear MOIC ~0.74x (value loss).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If exposure desired: minority/PIPE blocks only, monetised near-term.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Lasting PE lesson: the 2025 demerger as an SOTP value-unlock template.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Comparative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Strictly Private &amp; Confidential — IC Memorandum / Exit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6540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61104"/>
                <a:gridCol w="4261104"/>
              </a:tblGrid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Hexaware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Siemens India</a:t>
                      </a:r>
                    </a:p>
                  </a:txBody>
                  <a:tcPr marL="54864" marR="45720" marT="18288" marB="18288" anchor="ctr">
                    <a:solidFill>
                      <a:srgbClr val="2E549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5-yr revenue CAGR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~17% (CY21–25)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~23% (FY20–24, pre-demerger)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Margin profile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~16–17% EBITDA (expansion lever)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~11–13% EBIT (cyclical)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Exit readiness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8.4 / 10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9.0 / 10 (no sponsor control)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Control available to PE?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Base equity value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~Rs 46,000 cr (~US$5.4bn)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~Rs 166,500 cr (~US$19.6bn)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Base MOIC / IRR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~2.0x / ~11%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~1.28x / ~6.4% (hypothetical)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Optimal route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Staggered blocks -&gt; full exit ~CY2028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Demerger SOTP (done); blocks only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IC VERDICT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HOLD &amp; STAGGER-EXIT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PASS on control</a:t>
                      </a:r>
                    </a:p>
                  </a:txBody>
                  <a:tcPr marL="54864" marR="45720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011680" cy="914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BF9000"/>
                </a:solidFill>
                <a:latin typeface="Calibri"/>
              </a:rPr>
              <a:t>FINAL IC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Hexaware: HOLD &amp; STAGGER-EXIT by ~CY2028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6E0F0"/>
                </a:solidFill>
                <a:latin typeface="Calibri"/>
              </a:rPr>
              <a:t>Avoid the 2026 trough; stagger listed-market blocks to a Base ~2.0x MOIC / ~11% IRR; retain sponsor-to-sponsor &amp; strategic-sale optionality.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Siemens India: PASS 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6E0F0"/>
                </a:solidFill>
                <a:latin typeface="Calibri"/>
              </a:rPr>
              <a:t>A best-in-class, ~9/10 exit-ready asset, but structurally unavailable to sponsors (Siemens AG ~69%) and already richly valued (Bear case below today's price). Study the 2025 demerger as the value-unlock template.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Companion model: PE_Exit_Model_Hexaware_Siemens.xlsx — Assumptions feed Valuation &amp; Returns; live IC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